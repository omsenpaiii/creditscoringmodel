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</p:sldIdLst>
  <p:sldSz cx="12191695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8" d="100"/>
          <a:sy n="118" d="100"/>
        </p:scale>
        <p:origin x="-1482" y="-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10881360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3C5D"/>
                </a:solidFill>
                <a:latin typeface="Aptos"/>
              </a:rPr>
              <a:t>AI-Powered Credit Scoring and Document OCR System for Loan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566573"/>
                </a:solidFill>
                <a:latin typeface="Aptos"/>
              </a:rPr>
              <a:t>CO-OP Project at Industry (Module-2) | Project Type: Copyright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Team: Om Tomar, Sahajpal Singh, Ridhima Chopra, Ishpreet Kaur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Supervisor/Mentor: Lalit Sharma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Best German Credit ROC-AUC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0.831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Best Lending ROC-AUC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0.722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Submission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GitHub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Reliable digital lending needs risk prediction and document understanding.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566928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Manual document checks slow loan onboarding and increase operational cost.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Credit-risk models must detect risky borrowers while staying explainable.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A GitHub-verifiable package is needed for evaluation, reproducibility, and IPR readiness.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600200"/>
            <a:ext cx="4389120" cy="1005840"/>
          </a:xfrm>
          <a:prstGeom prst="roundRect">
            <a:avLst/>
          </a:prstGeom>
          <a:solidFill>
            <a:srgbClr val="FEF9E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4031" y="170992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1" y="200253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End-to-end AI workflow for loan risk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880360"/>
            <a:ext cx="4389120" cy="1005840"/>
          </a:xfrm>
          <a:prstGeom prst="roundRect">
            <a:avLst/>
          </a:prstGeom>
          <a:solidFill>
            <a:srgbClr val="EAF2F8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1" y="299008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328269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Runnable source code + report + PPT + IPR placeholder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4160520"/>
            <a:ext cx="4389120" cy="1005840"/>
          </a:xfrm>
          <a:prstGeom prst="roundRect">
            <a:avLst/>
          </a:prstGeom>
          <a:solidFill>
            <a:srgbClr val="E8F8F5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1" y="427024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456285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Metrics, plots, reproducible configs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Build a reproducible credit-scoring benchmark on public datasets.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Compare Logistic Regression, Random Forest, Gradient Boosting, and MLP.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Save traceable metrics, plots, confusion matrices, and feature importance.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Prepare real SROIE/FUNSD scanned-document data for PaddleOCR evaluation and fine-tuning.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Package the repository according to final evaluation instructions.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10881360" cy="4139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66573"/>
                </a:solidFill>
                <a:latin typeface="Aptos"/>
              </a:rPr>
              <a:t>Credit scoring is the core decision pipeline. OCR is the real-data document-intake extension for borrower forms.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Credit-Scoring Experiment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3776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Datasets: German Credit and Lending Club sample.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Preprocessing: imputation, one-hot encoding, scaling, class weighting, oversampling.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Metrics: ROC-AUC, PR-AUC, precision, recall, F1, accuracy, confusion matrix.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Explainability: feature-importance CSV and plot saved for every run.</a:t>
            </a:r>
          </a:p>
        </p:txBody>
      </p:sp>
      <p:pic>
        <p:nvPicPr>
          <p:cNvPr id="9" name="Picture 8" descr="credit_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25880"/>
            <a:ext cx="5577840" cy="2762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Best Credit-Scoring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71600"/>
            <a:ext cx="4937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481328"/>
            <a:ext cx="4608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German Credit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73936"/>
            <a:ext cx="4608576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Logistic Regression
ROC-AUC 0.831
Recall 0.778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371600"/>
            <a:ext cx="4937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1481328"/>
            <a:ext cx="4608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Lending Club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1773936"/>
            <a:ext cx="4608576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Logistic Regression
ROC-AUC 0.722
Recall 0.682</a:t>
            </a:r>
          </a:p>
        </p:txBody>
      </p:sp>
      <p:pic>
        <p:nvPicPr>
          <p:cNvPr id="14" name="Picture 13" descr="german-credit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03320"/>
            <a:ext cx="4663440" cy="3108960"/>
          </a:xfrm>
          <a:prstGeom prst="rect">
            <a:avLst/>
          </a:prstGeom>
        </p:spPr>
      </p:pic>
      <p:pic>
        <p:nvPicPr>
          <p:cNvPr id="15" name="Picture 14" descr="lending-club-sample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703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Precision-Recall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Shows model behavior under class imbalance and risk-recall tradeoffs.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rman-credit_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5166360" cy="3444240"/>
          </a:xfrm>
          <a:prstGeom prst="rect">
            <a:avLst/>
          </a:prstGeom>
        </p:spPr>
      </p:pic>
      <p:pic>
        <p:nvPicPr>
          <p:cNvPr id="10" name="Picture 9" descr="lending-club-sample_pr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166360" cy="3444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14600" y="5715000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66573"/>
                </a:solidFill>
                <a:latin typeface="Aptos"/>
              </a:rPr>
              <a:t>German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715000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66573"/>
                </a:solidFill>
                <a:latin typeface="Aptos"/>
              </a:rPr>
              <a:t>Lending Club Sample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Confusion Matrix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Held-out decisions shown as approval-risk classification 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rman-credi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4572000" cy="3657600"/>
          </a:xfrm>
          <a:prstGeom prst="rect">
            <a:avLst/>
          </a:prstGeom>
        </p:spPr>
      </p:pic>
      <p:pic>
        <p:nvPicPr>
          <p:cNvPr id="10" name="Picture 9" descr="lending-club-sample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234440"/>
            <a:ext cx="4572000" cy="3657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" y="5806440"/>
            <a:ext cx="101498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66573"/>
                </a:solidFill>
                <a:latin typeface="Aptos"/>
              </a:rPr>
              <a:t>These matrices make the false-positive and false-negative tradeoff visible for viva discussion.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Real PaddleOCR Data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SROIE receipts + FUNSD forms converted into PaddleOCR recognition labels.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cr_workflow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035040" cy="2318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1600200"/>
            <a:ext cx="420624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400">
                <a:solidFill>
                  <a:srgbClr val="1B2631"/>
                </a:solidFill>
                <a:latin typeface="Aptos"/>
              </a:defRPr>
            </a:pPr>
            <a:r>
              <a:t>Real scanned-document sources: ICDAR2019 SROIE and FUNSD.</a:t>
            </a:r>
          </a:p>
          <a:p>
            <a:pPr>
              <a:defRPr sz="1400">
                <a:solidFill>
                  <a:srgbClr val="1B2631"/>
                </a:solidFill>
                <a:latin typeface="Aptos"/>
              </a:defRPr>
            </a:pPr>
            <a:r>
              <a:t>Converter exports train/validation/test labels for PaddleOCR SimpleDataSet.</a:t>
            </a:r>
          </a:p>
          <a:p>
            <a:pPr>
              <a:defRPr sz="1400">
                <a:solidFill>
                  <a:srgbClr val="1B2631"/>
                </a:solidFill>
                <a:latin typeface="Aptos"/>
              </a:defRPr>
            </a:pPr>
            <a:r>
              <a:t>Baseline metrics are included only when generated from saved evaluation artifacts.</a:t>
            </a:r>
          </a:p>
          <a:p>
            <a:pPr>
              <a:defRPr sz="1400">
                <a:solidFill>
                  <a:srgbClr val="1B2631"/>
                </a:solidFill>
                <a:latin typeface="Aptos"/>
              </a:defRPr>
            </a:pPr>
            <a:r>
              <a:t>Real SROIE/FUNSD OCR pipeline status: prepared_real_dataset. Prepared recognition crops: train: 1200, val: 300, test: 300.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Measured OCR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Traceable to artifacts/ocr/real_ocr_finetune/baseline.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618488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911095"/>
            <a:ext cx="213969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508760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1618488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11095"/>
            <a:ext cx="213969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0.110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508760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618488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Word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1911095"/>
            <a:ext cx="213969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0.691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1508760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45752" y="1618488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Exact 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1911095"/>
            <a:ext cx="213969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0.440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91840"/>
            <a:ext cx="102412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Evaluation uses held-out real scanned-document crops prepared from public datasets.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The same test labels can be reused after fine-tuning for baseline-vs-fine-tuned comparison.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Borrower-document deployment should add privacy-reviewed labeled financial forms.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Explainability And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Feature importance is exported for both benchmark datasets.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rman-credit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5394960" cy="3371850"/>
          </a:xfrm>
          <a:prstGeom prst="rect">
            <a:avLst/>
          </a:prstGeom>
        </p:spPr>
      </p:pic>
      <p:pic>
        <p:nvPicPr>
          <p:cNvPr id="10" name="Picture 9" descr="lending-club-sample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3371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50992"/>
            <a:ext cx="102412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>
                <a:solidFill>
                  <a:srgbClr val="1B2631"/>
                </a:solidFill>
                <a:latin typeface="Aptos"/>
              </a:defRPr>
            </a:pPr>
            <a:r>
              <a:t>Feature-importance artifacts are generated for every benchmark run.</a:t>
            </a:r>
          </a:p>
          <a:p>
            <a:pPr>
              <a:defRPr sz="1200">
                <a:solidFill>
                  <a:srgbClr val="1B2631"/>
                </a:solidFill>
                <a:latin typeface="Aptos"/>
              </a:defRPr>
            </a:pPr>
            <a:r>
              <a:t>Metrics are exported as JSON and summarized in CSV.</a:t>
            </a:r>
          </a:p>
          <a:p>
            <a:pPr>
              <a:defRPr sz="1200">
                <a:solidFill>
                  <a:srgbClr val="1B2631"/>
                </a:solidFill>
                <a:latin typeface="Aptos"/>
              </a:defRPr>
            </a:pPr>
            <a:r>
              <a:t>Final report values can be traced to saved repository artifacts.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GitHub Submission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102412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IPR Submission Proof: placeholder for copyright form and screenshot.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Report and PPT: final DOCX, PPTX, templates, markdown, and figures.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Source code: runnable code, configs, tests, data samples, and artifacts.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README.md: team details, project type, status, and run instructions.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Evaluation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Mapped directly to the final marking areas.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371600"/>
            <a:ext cx="5120640" cy="960120"/>
          </a:xfrm>
          <a:prstGeom prst="roundRect">
            <a:avLst/>
          </a:prstGeom>
          <a:solidFill>
            <a:srgbClr val="FEF9E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48132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Filing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77393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IPR proof folder and copyright placeholder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120640" cy="960120"/>
          </a:xfrm>
          <a:prstGeom prst="roundRect">
            <a:avLst/>
          </a:prstGeom>
          <a:solidFill>
            <a:srgbClr val="EAF2F8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48132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Platform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177393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Required GitHub folders and runnable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88920"/>
            <a:ext cx="5120640" cy="960120"/>
          </a:xfrm>
          <a:prstGeom prst="roundRect">
            <a:avLst/>
          </a:prstGeom>
          <a:solidFill>
            <a:srgbClr val="E8F8F5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89864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Revision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19125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Report, PPT, README, figures, templates, generator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788920"/>
            <a:ext cx="5120640" cy="960120"/>
          </a:xfrm>
          <a:prstGeom prst="roundRect">
            <a:avLst/>
          </a:prstGeom>
          <a:solidFill>
            <a:srgbClr val="F4ECF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89864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Supervisor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9125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Progress and feedback reflected in final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72000"/>
            <a:ext cx="10241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>
                <a:solidFill>
                  <a:srgbClr val="1B2631"/>
                </a:solidFill>
                <a:latin typeface="Aptos"/>
              </a:defRPr>
            </a:pPr>
            <a:r>
              <a:t>Repository is organized for external verification.</a:t>
            </a:r>
          </a:p>
          <a:p>
            <a:pPr>
              <a:defRPr sz="1600">
                <a:solidFill>
                  <a:srgbClr val="1B2631"/>
                </a:solidFill>
                <a:latin typeface="Aptos"/>
              </a:defRPr>
            </a:pPr>
            <a:r>
              <a:t>Final documents explain the project, evidence, run commands, and submission status.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Conclusion And Future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102412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Delivered a reproducible AI-based loan risk assessment package.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Credit-scoring benchmark identifies strong transparent baselines.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OCR workflow shows practical document-intake extension potential.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Future work: larger Lending Club experiments, SHAP explanations, scanned-form OCR evaluation, and API deployment.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88136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200" b="1">
                <a:solidFill>
                  <a:srgbClr val="0B3C5D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566573"/>
                </a:solidFill>
                <a:latin typeface="Aptos"/>
              </a:rPr>
              <a:t>AI-Powered Credit Scoring and Document OCR System for Loan Risk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1B2631"/>
                </a:solidFill>
                <a:latin typeface="Aptos"/>
              </a:rPr>
              <a:t>Team: Om Tomar | Sahajpal Singh | Ridhima Chopra | Ishpreet Kaur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Department of Computer Science and Engineering, Chitkara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34701</TotalTime>
  <Words>44</Words>
  <Application>Microsoft Office PowerPoint</Application>
  <PresentationFormat>On-screen Show (4:3)</PresentationFormat>
  <Paragraphs>30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isha</cp:lastModifiedBy>
  <cp:revision>2300</cp:revision>
  <dcterms:created xsi:type="dcterms:W3CDTF">2010-04-09T07:36:15Z</dcterms:created>
  <dcterms:modified xsi:type="dcterms:W3CDTF">2026-04-28T05:25:30Z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